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011680" cy="201168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— Real-World Business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Real Estate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17520" y="32004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 Churn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3200400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Sales Analytics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Records  •  3 Domains  •  5 Visualisations  •  Statistical Testing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14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1064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interconnected challenges across real estate, telecom &amp; retail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40280"/>
            <a:ext cx="4114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24028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2951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quality checks, key variables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29000"/>
            <a:ext cx="4114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2900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483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drivers, location premium, regression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051560"/>
            <a:ext cx="4114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515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1064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risk, tenure patterns, statistical testing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40280"/>
            <a:ext cx="4114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24028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2951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&amp; region, seasonal trends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429000"/>
            <a:ext cx="420624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429000"/>
            <a:ext cx="4114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42900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3483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3886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plan with expected impact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metrics across all three domains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828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₹24.9M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House Price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40280" y="1051560"/>
            <a:ext cx="1828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2402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051560"/>
            <a:ext cx="1828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₹12.37M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2062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1828800" cy="118872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1430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 Product</a:t>
            </a:r>
            <a:endParaRPr lang="en-US" sz="900" dirty="0"/>
          </a:p>
        </p:txBody>
      </p:sp>
      <p:pic>
        <p:nvPicPr>
          <p:cNvPr id="17" name="Image 0" descr="/home/claude/capstone/reports/fig5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423160"/>
            <a:ext cx="85953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Market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distribution, property types &amp; location premium</a:t>
            </a:r>
            <a:endParaRPr lang="en-US" sz="1100" dirty="0"/>
          </a:p>
        </p:txBody>
      </p:sp>
      <p:pic>
        <p:nvPicPr>
          <p:cNvPr id="5" name="Image 0" descr="/home/claude/capstone/reports/fig1_real_e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9436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005840"/>
            <a:ext cx="246888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0" y="10515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is #1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R²=0.39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price predictor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0" y="2194560"/>
            <a:ext cx="246888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22402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Premium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 over rural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sq ft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0" y="3383280"/>
            <a:ext cx="246888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Villas Lead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3840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vs apartments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median price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test: ANOVA F=8.3, p&lt;0.001 — location significantly impacts price/sqft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type, tenure patterns &amp; statistical significance</a:t>
            </a:r>
            <a:endParaRPr lang="en-US" sz="1100" dirty="0"/>
          </a:p>
        </p:txBody>
      </p:sp>
      <p:pic>
        <p:nvPicPr>
          <p:cNvPr id="5" name="Image 0" descr="/home/claude/capstone/reports/fig2_ch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943600" cy="2286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005840"/>
          <a:ext cx="2468880" cy="155448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Month-to-month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🔴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🟡 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🟢 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2697480"/>
            <a:ext cx="246888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46520" y="2743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6.8, p = 0.033
</a:t>
            </a:r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a significant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of churn behaviour.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Month-to-month customers churn at 4× the rate of 2-year contract holders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product, region &amp; monthly trend</a:t>
            </a:r>
            <a:endParaRPr lang="en-US" sz="1100" dirty="0"/>
          </a:p>
        </p:txBody>
      </p:sp>
      <p:pic>
        <p:nvPicPr>
          <p:cNvPr id="5" name="Image 0" descr="/home/claude/capstone/reports/fig3_s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5943600" cy="2286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005840"/>
            <a:ext cx="246888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0" y="10058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₹3.9M revenue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874520"/>
            <a:ext cx="2468880" cy="7772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8745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₹2.9M revenue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2743200"/>
            <a:ext cx="246888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2743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₹2.9M revenue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34290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region leads with highest transaction volume • Q3 seasonal uplift observed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Statistical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• ANOVA • Chi-Square • Correlation</a:t>
            </a:r>
            <a:endParaRPr lang="en-US" sz="1100" dirty="0"/>
          </a:p>
        </p:txBody>
      </p:sp>
      <p:pic>
        <p:nvPicPr>
          <p:cNvPr id="5" name="Image 0" descr="/home/claude/capstone/reports/fig4_advanc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8595360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3566160"/>
            <a:ext cx="2084832" cy="13258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3566160"/>
            <a:ext cx="2084832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3566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74320" y="391363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→ Price r²=0.39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50592" y="3566160"/>
            <a:ext cx="2084832" cy="13258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50592" y="3566160"/>
            <a:ext cx="2084832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0592" y="3566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450592" y="391363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price F=8.3 p&lt;0.001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26864" y="3566160"/>
            <a:ext cx="2084832" cy="13258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26864" y="3566160"/>
            <a:ext cx="20848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3566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626864" y="391363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vs Churn χ²=6.8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803136" y="3566160"/>
            <a:ext cx="2084832" cy="132588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803136" y="3566160"/>
            <a:ext cx="2084832" cy="320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03136" y="3566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803136" y="3913632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inter-relationships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plan with expected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9768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502920" cy="10515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Campaign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170 month-to-month customers with 15% discount for 2-yr commitment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37560" y="1097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 10.6%→7%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~₹150K/year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" y="2194560"/>
            <a:ext cx="429768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2194560"/>
            <a:ext cx="50292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1945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" y="2240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Inventory Expansion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5877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Laptop stock 20%; push into East region to balance revenue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+15-20% revenue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category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" y="3383280"/>
            <a:ext cx="429768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3383280"/>
            <a:ext cx="502920" cy="10515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8328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" y="3429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Centre Villa Pipeline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377647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development on 2,500–4,000 sq ft City Centre properties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37560" y="34747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₹5-8M premium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0600" y="1005840"/>
            <a:ext cx="429768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1005840"/>
            <a:ext cx="50292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00584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394960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+ Headphones Bundle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139903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bundle discount to lift basket size and cross-sell accessories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09560" y="109728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₹50K avg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2194560"/>
            <a:ext cx="4297680" cy="105156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194560"/>
            <a:ext cx="502920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194560"/>
            <a:ext cx="502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394960" y="22402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Early-Tenure Retention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94960" y="2587752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to customers in months 1-12 (highest churn risk)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09560" y="22860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LTV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est. 18%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1B33"/>
          </a:solidFill>
          <a:ln w="12700">
            <a:solidFill>
              <a:srgbClr val="021B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 / 90 / 120-day action timeline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057400" cy="4572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161288"/>
            <a:ext cx="137160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6002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4592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276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contract upgrade campaign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5146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560320"/>
            <a:ext cx="228600" cy="22860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420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churn dashboard daily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3160" y="1005840"/>
            <a:ext cx="20574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31-60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1161288"/>
            <a:ext cx="137160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23160" y="16002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645920"/>
            <a:ext cx="228600" cy="228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6276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Laptop inventory &amp; East push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23160" y="25146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2560320"/>
            <a:ext cx="228600" cy="228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5420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Laptop+Headphones bundle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20574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61-90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75120" y="1161288"/>
            <a:ext cx="137160" cy="1463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6002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645920"/>
            <a:ext cx="228600" cy="228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6276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City Centre Villa plots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5146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560320"/>
            <a:ext cx="228600" cy="228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5420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premium property pipeline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280" y="1005840"/>
            <a:ext cx="20574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91-120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16002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58000" y="1645920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16276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early-tenure retention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12280" y="2514600"/>
            <a:ext cx="2057400" cy="777240"/>
          </a:xfrm>
          <a:prstGeom prst="rect">
            <a:avLst/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58000" y="2560320"/>
            <a:ext cx="228600" cy="22860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2542032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LTV improvements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8600" y="44805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initiatives to be tracked via monthly KPI reviews against baseline metrics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91440" cy="411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94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&amp; location explain 39% of property price variance — size your inventory accordingly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16352"/>
            <a:ext cx="914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163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is the #1 churn predictor — converting 10% of M2M customers saves ₹150K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438144"/>
            <a:ext cx="914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38144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 dominate 31% of revenue — prioritise stock and East-region expansion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9144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59936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techniques, 5 charts, statistical tests — reproducible, portfolio-ready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Capstone  •  900 Records  •  3 Domains  •  Python + Statistical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2026-06-03T02:29:21Z</dcterms:created>
  <dcterms:modified xsi:type="dcterms:W3CDTF">2026-06-03T02:29:21Z</dcterms:modified>
</cp:coreProperties>
</file>